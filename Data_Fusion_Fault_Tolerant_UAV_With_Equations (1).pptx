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D010C-C1EF-481A-8A59-1C1905DBBFFD}" v="4" dt="2026-08-20T11:34:19.232"/>
    <p1510:client id="{1030B71E-658B-F9AD-939E-0966A94EE5B5}" v="274" dt="2026-08-20T10:52:20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095" y="2521413"/>
            <a:ext cx="109201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rPr sz="3600"/>
              <a:t>Data Fusion Fault-Tolerant Strategy for a Quadrotor UAV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175657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FD8E1-A3A7-C1AA-57EE-465F334D2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11" y="1963"/>
            <a:ext cx="10802472" cy="1811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53485D-DCE2-F504-F46C-91FA4B54EDCC}"/>
              </a:ext>
            </a:extLst>
          </p:cNvPr>
          <p:cNvSpPr txBox="1"/>
          <p:nvPr/>
        </p:nvSpPr>
        <p:spPr>
          <a:xfrm>
            <a:off x="683875" y="3928932"/>
            <a:ext cx="594033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TEAM CD-1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SARADHI-CB.SC.U4AIE24265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SATHVIK-CB.SC.U4AIE24240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ARYAN-CB.SC.U4AIE24341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DASARI RISHIKESH-CB.SC.U4AIE24365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01 / INTRODUCTION — UAV Fault-Tolerant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34778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UAVs are used for surveillance, delivery, inspection and defense.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A quadrotor has 4 motors but must control 6 degrees of freedom.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So, correct position and movement information is very important.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GPS → X and Y position.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Lidar / Barometer → altitude (Z).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IMU → acceleration and angular motion.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Magnetometer → heading (yaw).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If sensor information becomes wrong, the drone can become unstable.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Our system also checks for hidden software faults in the estimator</a:t>
            </a:r>
            <a: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0273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02 / PROBLEM STATEMENT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34778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t>• </a:t>
            </a:r>
            <a:r>
              <a:rPr sz="2000"/>
              <a:t>GPS can suddenly show a wrong position, for example a +5 m jump.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This wrong position can make the drone move or tilt incorrectly.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Lidar can have a −1 m height bias and may cause unsafe altitude control.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IMU measurements can become noisy because of motor vibration.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A more difficult problem is an internal software fault.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The Kalman filter covariance can become invalid or negative.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Example: </a:t>
            </a:r>
            <a:r>
              <a:rPr sz="2000" err="1"/>
              <a:t>Pz</a:t>
            </a:r>
            <a:r>
              <a:rPr sz="2000"/>
              <a:t> = −0.1 or </a:t>
            </a:r>
            <a:r>
              <a:rPr sz="2000" err="1"/>
              <a:t>Pxy</a:t>
            </a:r>
            <a:r>
              <a:rPr sz="2000"/>
              <a:t> = −0.01.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The physical sensors may still look healthy, so a normal sensor voter may not detect it.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Wind and rain can make fault detection harder.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03 / OBJECTIVES — What We Want to Achieve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34778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t>• </a:t>
            </a:r>
            <a:r>
              <a:rPr sz="2000"/>
              <a:t>Reproduce the main results of the Hamadi et al. (2022) reference work.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Use four sensor blocks as the input to the estimation system.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Use two EKFs so that one estimator can act as a backup.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Build an analytical dynamic model of the quadrotor.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Use a weighted voting method to select a reliable state estimate.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Detect both physical sensor faults and software estimation faults.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Automatically isolate the faulty part and recover the drone.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Create a realistic 3D </a:t>
            </a:r>
            <a:r>
              <a:rPr sz="2000" err="1"/>
              <a:t>MuJoCo</a:t>
            </a:r>
            <a:r>
              <a:rPr sz="2000"/>
              <a:t> airfield with wind and rain.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sz="2000"/>
              <a:t>• Test takeoff, flight, fault injection and landing.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04 / FULL PIPELINE — How Our Project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424731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1: Sensor blocks provide measurements from the simulated drone.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2: Measurements are processed by EKF 1 and EKF 2.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3: Motor commands are also used by the analytical Dynamic Model.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4: The three estimates are compared by the weighted voter.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5: The voter produces one reliable consensus state.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6: FDI checks sensor residuals and estimator covariance.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7: If a fault is found, the faulty source is isolated.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8: A recovery solution creates a safe state estimate.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9: The recovered state goes to the PD controller.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Step 10: The controller sends motor commands back to the </a:t>
            </a:r>
            <a:r>
              <a:rPr sz="2000" err="1"/>
              <a:t>MuJoCo</a:t>
            </a:r>
            <a:r>
              <a:rPr sz="2000"/>
              <a:t> drone.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Easy flow: Sensors → Estimation → Voting → Fault Detection → Recovery → Control →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05 / METHODOLOGY — Mathematical Models &amp; Estimators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468333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t>• </a:t>
            </a:r>
            <a:r>
              <a:rPr sz="2000"/>
              <a:t>Motor input is converted into thrust and torque using fitted equations.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Thrust equation: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Fi = −1.4736u³ + 11.0691u² − 16.7074u + 7.3007 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Torque equation: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 err="1"/>
              <a:t>τi</a:t>
            </a:r>
            <a:r>
              <a:rPr sz="2000"/>
              <a:t> = −0.0905u³ + 0.4771u² − 0.6790u + 0.3045 </a:t>
            </a:r>
            <a:r>
              <a:rPr sz="2000" err="1"/>
              <a:t>N·m</a:t>
            </a:r>
            <a:endParaRPr sz="2000"/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The Dynamic Model describes the drone's 6-DOF motion.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6-DOF means X, Y, Z movement plus roll, pitch and yaw.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The equations are solved using RK4 at 200 Hz.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The Dynamic Model predicts motion using physics and motor inputs.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EKF 1 is the primary state estimator; EKF 2 is the redundant backup estimator.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Joseph-form covariance update: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Pk = (I − </a:t>
            </a:r>
            <a:r>
              <a:rPr sz="2000" err="1"/>
              <a:t>KkHk</a:t>
            </a:r>
            <a:r>
              <a:rPr sz="2000"/>
              <a:t>)Pk|k−1(I − </a:t>
            </a:r>
            <a:r>
              <a:rPr sz="2000" err="1"/>
              <a:t>KkHk</a:t>
            </a:r>
            <a:r>
              <a:rPr sz="2000"/>
              <a:t>)ᵀ + </a:t>
            </a:r>
            <a:r>
              <a:rPr sz="2000" err="1"/>
              <a:t>KkRkKk</a:t>
            </a:r>
            <a:r>
              <a:rPr sz="2000"/>
              <a:t>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44543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05 / METHODOLOGY —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55553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t>• </a:t>
            </a:r>
            <a:r>
              <a:rPr sz="2000"/>
              <a:t>The three branches give estimates of the drone state.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We compare how close the estimates are to each other.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Similarity score: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 err="1"/>
              <a:t>sij</a:t>
            </a:r>
            <a:r>
              <a:rPr sz="2000"/>
              <a:t> = 1 / [1 + (</a:t>
            </a:r>
            <a:r>
              <a:rPr sz="2000" err="1"/>
              <a:t>dij</a:t>
            </a:r>
            <a:r>
              <a:rPr sz="2000"/>
              <a:t> / a)ⁿ]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More consistent estimates receive higher weights.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Weight calculation: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 err="1"/>
              <a:t>wi</a:t>
            </a:r>
            <a:r>
              <a:rPr sz="2000"/>
              <a:t> = (</a:t>
            </a:r>
            <a:r>
              <a:rPr sz="2000" err="1"/>
              <a:t>Σj≠i</a:t>
            </a:r>
            <a:r>
              <a:rPr sz="2000"/>
              <a:t> </a:t>
            </a:r>
            <a:r>
              <a:rPr sz="2000" err="1"/>
              <a:t>sij</a:t>
            </a:r>
            <a:r>
              <a:rPr sz="2000"/>
              <a:t>) / (</a:t>
            </a:r>
            <a:r>
              <a:rPr sz="2000" err="1"/>
              <a:t>Σk</a:t>
            </a:r>
            <a:r>
              <a:rPr sz="2000"/>
              <a:t> </a:t>
            </a:r>
            <a:r>
              <a:rPr sz="2000" err="1"/>
              <a:t>Σj≠k</a:t>
            </a:r>
            <a:r>
              <a:rPr sz="2000"/>
              <a:t> </a:t>
            </a:r>
            <a:r>
              <a:rPr sz="2000" err="1"/>
              <a:t>skj</a:t>
            </a:r>
            <a:r>
              <a:rPr sz="2000"/>
              <a:t>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Final voted state: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 err="1"/>
              <a:t>yvoted</a:t>
            </a:r>
            <a:r>
              <a:rPr sz="2000"/>
              <a:t> = Σ </a:t>
            </a:r>
            <a:r>
              <a:rPr sz="2000" err="1"/>
              <a:t>wi</a:t>
            </a:r>
            <a:r>
              <a:rPr sz="2000"/>
              <a:t> </a:t>
            </a:r>
            <a:r>
              <a:rPr sz="2000" err="1"/>
              <a:t>yi</a:t>
            </a:r>
            <a:endParaRPr sz="2000"/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sz="2000"/>
              <a:t>• FDI means Fault Detection and Isolation.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GPS threshold: ΔGPS ≤ 2.0 m.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Lidar threshold: </a:t>
            </a:r>
            <a:r>
              <a:rPr sz="2000" err="1"/>
              <a:t>ΔLidar</a:t>
            </a:r>
            <a:r>
              <a:rPr sz="2000"/>
              <a:t> ≤ 1.0 m.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Software fault: min(</a:t>
            </a:r>
            <a:r>
              <a:rPr sz="2000" err="1"/>
              <a:t>diag</a:t>
            </a:r>
            <a:r>
              <a:rPr sz="2000"/>
              <a:t>(PKF1)) &lt; 0.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420" b="1">
                <a:solidFill>
                  <a:srgbClr val="5F9BE6"/>
                </a:solidFill>
              </a:defRPr>
            </a:pPr>
            <a:r>
              <a:rPr sz="2000"/>
              <a:t>Recovery 3: KF3 = ½(KF2 + DM).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DA196D-1B62-57F8-C834-7537411E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081" y="0"/>
            <a:ext cx="2776357" cy="6847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06 / SIMULATION — 3D MuJoCo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3477875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t>• </a:t>
            </a:r>
            <a:r>
              <a:rPr lang="en-US" sz="2000"/>
              <a:t>We created a realistic 3D airfield for testing the drone.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The environment has a 60 m runway with center markings.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It also contains a helipad, hangars, tower, radar dome and trees.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The Tarot 650 drone performs its flight inside this environment.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Wind turbulence is varied between about 4.0 and 6.5 m/s.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Animated rain is also added to make the environment more realistic.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A simple HUD shows position, altitude, wind and sensor residuals.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The fault and consensus status can be monitored during flight.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The HUD is placed in the </a:t>
            </a:r>
            <a:r>
              <a:rPr lang="en-US" sz="2000" err="1"/>
              <a:t>corners</a:t>
            </a:r>
            <a:r>
              <a:rPr lang="en-US" sz="2000"/>
              <a:t> so it does not block the main view.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816797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06 / SIMULATION —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4632037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1400"/>
              <a:t>• </a:t>
            </a:r>
            <a:r>
              <a:rPr lang="en-IN" sz="2000"/>
              <a:t>Situation 1 — GPS fault at t = 7 s.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GPS receives a +5 m position error.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fault is detected </a:t>
            </a:r>
            <a:r>
              <a:rPr lang="en-IN" sz="2000" err="1"/>
              <a:t>quickly</a:t>
            </a:r>
            <a:r>
              <a:rPr lang="en-IN" sz="2000"/>
              <a:t> and the faulty estimator is isolated.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drone continues the runway circuit safely.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Situation 2 — Lidar fault at t = 17.8 s.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Lidar receives a −1 m height bias.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system maintains the drone near 3 m altitude.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Situation 3 — software altitude fault: </a:t>
            </a:r>
            <a:r>
              <a:rPr lang="en-IN" sz="2000" err="1"/>
              <a:t>Pz</a:t>
            </a:r>
            <a:r>
              <a:rPr lang="en-IN" sz="2000"/>
              <a:t> = −0.1.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covariance health check detects the problem and disconnects KF1.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Situation 4 — software position fault: </a:t>
            </a:r>
            <a:r>
              <a:rPr lang="en-IN" sz="2000" err="1"/>
              <a:t>Pxy</a:t>
            </a:r>
            <a:r>
              <a:rPr lang="en-IN" sz="2000"/>
              <a:t> = −0.01.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system uses KF3 from EKF 2 and the Dynamic Model.</a:t>
            </a:r>
            <a:endParaRPr lang="en-IN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IN" sz="2000"/>
              <a:t>• The drone continues its planned U-shaped path.</a:t>
            </a:r>
            <a:endParaRPr lang="en-IN" sz="20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095143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07 / FUTURE WORK —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3862596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t>• </a:t>
            </a:r>
            <a:r>
              <a:rPr lang="en-US" sz="2000"/>
              <a:t>Test the algorithms on real drone hardware.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Port the system to PX4 and Pixhawk 6X.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Implement the algorithms in C++.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Test dual CAN-bus communication at 200 Hz.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Perform outdoor tests under real wind and weather.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Use LSTM or Transformer models to predict sensor degradation.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Use NMPC to improve control during strong wind.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Add rotor-failure handling for hexacopters and octocopters.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Extend the voter to multiple drones.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550">
                <a:solidFill>
                  <a:srgbClr val="F5F7FA"/>
                </a:solidFill>
              </a:defRPr>
            </a:pPr>
            <a:r>
              <a:rPr lang="en-US" sz="2000"/>
              <a:t>• Allow healthy drones to share information with degraded drones.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879186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08 / CONCLUSION —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88720" cy="41148"/>
          </a:xfrm>
          <a:prstGeom prst="rect">
            <a:avLst/>
          </a:prstGeom>
          <a:solidFill>
            <a:srgbClr val="41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89920" cy="4247317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1400"/>
              <a:t>• </a:t>
            </a:r>
            <a:r>
              <a:rPr lang="en-US" sz="2000"/>
              <a:t>We developed a fault-tolerant navigation system for a quadrotor.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The system can handle both sensor faults and software estimator faults.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Two EKFs provide redundant state estimates.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The Dynamic Model provides an additional physics-based estimate.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The weighted voter selects a reliable consensus state.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FDI detects sensor errors and hidden covariance problems.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Recovery methods allow the drone to continue flying after a fault.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The system was tested in a 3D </a:t>
            </a:r>
            <a:r>
              <a:rPr lang="en-US" sz="2000" err="1"/>
              <a:t>MuJoCo</a:t>
            </a:r>
            <a:r>
              <a:rPr lang="en-US" sz="2000"/>
              <a:t> environment.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GPS, Lidar and software faults were successfully tested.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Wind and rain were also included in the simulation.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 sz="1420">
                <a:solidFill>
                  <a:srgbClr val="F5F7FA"/>
                </a:solidFill>
              </a:defRPr>
            </a:pPr>
            <a:r>
              <a:rPr lang="en-US" sz="2000"/>
              <a:t>• Final idea: Sense → Estimate → Compare → Detect → Recover → Control → Fly safely.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EC9D6"/>
                </a:solidFill>
              </a:defRPr>
            </a:pPr>
            <a:r>
              <a:t>Data Fusion Fault-Tolerant UAV   |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</cp:revision>
  <dcterms:created xsi:type="dcterms:W3CDTF">2013-01-27T09:14:16Z</dcterms:created>
  <dcterms:modified xsi:type="dcterms:W3CDTF">2026-08-20T11:41:25Z</dcterms:modified>
  <cp:category/>
</cp:coreProperties>
</file>